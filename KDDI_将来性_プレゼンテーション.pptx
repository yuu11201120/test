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"/>
              </a:defRPr>
            </a:pPr>
            <a:r>
              <a:t>KDDIの将来性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6600"/>
                </a:solidFill>
                <a:latin typeface="Meiryo"/>
              </a:defRPr>
            </a:pPr>
            <a:r>
              <a:t>〜 通信を超えた成長戦略と未来への挑戦 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474720"/>
            <a:ext cx="2103120" cy="2743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Meiryo"/>
              </a:defRPr>
            </a:pPr>
            <a:r>
              <a:t>2026年2月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333333"/>
                </a:solidFill>
                <a:latin typeface="Meiryo"/>
              </a:defRPr>
            </a:pPr>
            <a:r>
              <a:t>5G・AI・DX・衛星通信・ローソン提携 ── 多角的成長戦略の全貌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eiryo"/>
              </a:defRPr>
            </a:pPr>
            <a:r>
              <a:t>目次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Meiryo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1417320"/>
            <a:ext cx="27432" cy="3657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eiryo"/>
              </a:defRPr>
            </a:pPr>
            <a:r>
              <a:t>KDDIの企業概要と現在の業績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eiryo"/>
              </a:defRPr>
            </a:pPr>
            <a:r>
              <a:t>事業規模・収益構造・直近決算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Meiryo"/>
              </a:defRPr>
            </a:pPr>
            <a: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984248"/>
            <a:ext cx="27432" cy="3657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8928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eiryo"/>
              </a:defRPr>
            </a:pPr>
            <a:r>
              <a:t>中期経営戦略「新サテライトグロース戦略」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1671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eiryo"/>
              </a:defRPr>
            </a:pPr>
            <a:r>
              <a:t>コア事業とOrbit1/Orbit2の成長領域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0545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Meiryo"/>
              </a:defRPr>
            </a:pPr>
            <a: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551176"/>
            <a:ext cx="27432" cy="3657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4597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eiryo"/>
              </a:defRPr>
            </a:pPr>
            <a:r>
              <a:t>5G・Beyond 5G/6G戦略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7340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eiryo"/>
              </a:defRPr>
            </a:pPr>
            <a:r>
              <a:t>次世代通信インフラへの取り組み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7238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Meiryo"/>
              </a:defRPr>
            </a:pPr>
            <a: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3118104"/>
            <a:ext cx="27432" cy="3657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30266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eiryo"/>
              </a:defRPr>
            </a:pPr>
            <a:r>
              <a:t>AI・DX事業の成長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3009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eiryo"/>
              </a:defRPr>
            </a:pPr>
            <a:r>
              <a:t>WAKONX・データセンター・法人DX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63931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Meiryo"/>
              </a:defRPr>
            </a:pPr>
            <a: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3685032"/>
            <a:ext cx="27432" cy="3657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3593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eiryo"/>
              </a:defRPr>
            </a:pPr>
            <a:r>
              <a:t>宇宙事業 ── au Starlink Direct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867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eiryo"/>
              </a:defRPr>
            </a:pPr>
            <a:r>
              <a:t>衛星直接通信と月面5G構想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206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Meiryo"/>
              </a:defRPr>
            </a:pPr>
            <a: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4251960"/>
            <a:ext cx="27432" cy="3657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eiryo"/>
              </a:defRPr>
            </a:pPr>
            <a:r>
              <a:t>ローソン提携によるシナジー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434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eiryo"/>
              </a:defRPr>
            </a:pPr>
            <a:r>
              <a:t>リアル×デジタル×グリーンの融合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7731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Meiryo"/>
              </a:defRPr>
            </a:pPr>
            <a:r>
              <a:t>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4818888"/>
            <a:ext cx="27432" cy="3657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4727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eiryo"/>
              </a:defRPr>
            </a:pPr>
            <a:r>
              <a:t>金融・エネルギー事業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0017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eiryo"/>
              </a:defRPr>
            </a:pPr>
            <a:r>
              <a:t>非通信収益の多角化戦略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34009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Meiryo"/>
              </a:defRPr>
            </a:pPr>
            <a:r>
              <a:t>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5385816"/>
            <a:ext cx="27432" cy="3657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5294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eiryo"/>
              </a:defRPr>
            </a:pPr>
            <a:r>
              <a:t>リスク要因と課題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55686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eiryo"/>
              </a:defRPr>
            </a:pPr>
            <a:r>
              <a:t>競争環境・規制・子会社問題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90702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Meiryo"/>
              </a:defRPr>
            </a:pPr>
            <a:r>
              <a:t>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5952744"/>
            <a:ext cx="27432" cy="3657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58613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eiryo"/>
              </a:defRPr>
            </a:pPr>
            <a:r>
              <a:t>まとめ ── KDDIの将来展望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61356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eiryo"/>
              </a:defRPr>
            </a:pPr>
            <a:r>
              <a:t>成長シナリオと投資判断のポイント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eiryo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eiryo"/>
              </a:defRPr>
            </a:pPr>
            <a:r>
              <a:t>01  KDDIの企業概要と現在の業績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eiryo"/>
              </a:defRPr>
            </a:pPr>
            <a:r>
              <a:t>企業概要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7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設立: 2000年（DDI・KDD・IDO の合併）</a:t>
            </a:r>
          </a:p>
          <a:p>
            <a:pPr>
              <a:spcAft>
                <a:spcPts val="447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本社: 東京都千代田区飯田橋 → 2025年 高輪ゲートウェイへ移転</a:t>
            </a:r>
          </a:p>
          <a:p>
            <a:pPr>
              <a:spcAft>
                <a:spcPts val="447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従業員数: 約62,000名（連結）</a:t>
            </a:r>
          </a:p>
          <a:p>
            <a:pPr>
              <a:spcAft>
                <a:spcPts val="447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事業: 通信（au/UQ/povo）、DX、金融、エネルギー等</a:t>
            </a:r>
          </a:p>
          <a:p>
            <a:pPr>
              <a:spcAft>
                <a:spcPts val="447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時価総額: 約10兆円規模（通信業界2位）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eiryo"/>
              </a:defRPr>
            </a:pPr>
            <a:r>
              <a:t>2025年3月期 業績ハイライト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20240"/>
            <a:ext cx="484632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Meiryo"/>
              </a:defRPr>
            </a:pPr>
            <a:r>
              <a:t>売上高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Meiryo"/>
              </a:defRPr>
            </a:pPr>
            <a:r>
              <a:t>5兆9,180億円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240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A55A"/>
                </a:solidFill>
                <a:latin typeface="Meiryo"/>
              </a:defRPr>
            </a:pPr>
            <a:r>
              <a:t>+2.8%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484632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Meiryo"/>
              </a:defRPr>
            </a:pPr>
            <a:r>
              <a:t>営業利益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Meiryo"/>
              </a:defRPr>
            </a:pPr>
            <a:r>
              <a:t>1兆1,187億円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A55A"/>
                </a:solidFill>
                <a:latin typeface="Meiryo"/>
              </a:defRPr>
            </a:pPr>
            <a:r>
              <a:t>+16.3%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14800"/>
            <a:ext cx="484632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Meiryo"/>
              </a:defRPr>
            </a:pPr>
            <a:r>
              <a:t>決済・金融取扱高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Meiryo"/>
              </a:defRPr>
            </a:pPr>
            <a:r>
              <a:t>21.4兆円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434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A55A"/>
                </a:solidFill>
                <a:latin typeface="Meiryo"/>
              </a:defRPr>
            </a:pPr>
            <a:r>
              <a:t>+3.4兆円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37760"/>
            <a:ext cx="1106424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2026年3月期 上期（2025年4月〜9月）: 売上高 2兆9,632億円（+3.8%）/ 営業利益 5,772億円（+0.7%）/ 当期利益 3,777億円（+7.6%）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Meiryo"/>
              </a:defRPr>
            </a:pPr>
            <a:r>
              <a:t>モバイルARPU: 4,460円（Q1比+120円）/ 解約率: 1.21%（改善傾向）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eiryo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eiryo"/>
              </a:defRPr>
            </a:pPr>
            <a:r>
              <a:t>02  中期経営戦略「新サテライトグロース戦略」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33333"/>
                </a:solidFill>
                <a:latin typeface="Meiryo"/>
              </a:defRPr>
            </a:pPr>
            <a:r>
              <a:t>KDDI VISION 2030:「つなぐチカラ」を進化させ、誰もが思いを実現できる社会をつくる。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377440"/>
            <a:ext cx="3931920" cy="10972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423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コア事業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743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eiryo"/>
              </a:defRPr>
            </a:pPr>
            <a:r>
              <a:t>5G通信 × データドリブン × 生成AI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02920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587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Orbit 1 ── 成長牽引領域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DX（デジタルトランスフォーメーション）</a:t>
            </a:r>
          </a:p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  → WAKONX基盤、IoT、データセンター拡充</a:t>
            </a:r>
          </a:p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金融事業</a:t>
            </a:r>
          </a:p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  → 決済・金融取扱高 21.4兆円、au PAY/じぶん銀行</a:t>
            </a:r>
          </a:p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エネルギー事業</a:t>
            </a:r>
          </a:p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  → auでんき、再生可能エネルギー推進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377440"/>
          </a:xfrm>
          <a:prstGeom prst="roundRect">
            <a:avLst/>
          </a:prstGeom>
          <a:solidFill>
            <a:srgbClr val="F3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840480"/>
            <a:ext cx="5212080" cy="4572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8587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Orbit 2 ── 将来成長領域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モビリティ（自動運転・MaaS）</a:t>
            </a:r>
          </a:p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宇宙事業（Starlink・月面5G）</a:t>
            </a:r>
          </a:p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ヘルスケア（遠隔医療・健康管理）</a:t>
            </a:r>
          </a:p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Web3・メタバース（αU等）</a:t>
            </a:r>
          </a:p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スポーツ・エンターテインメント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目標: 営業CF 2年間で3兆円規模 / 設備投資 1.3兆円 / 戦略投資 2,000億円 / 持続的増配・配当性向40%超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eiryo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eiryo"/>
              </a:defRPr>
            </a:pPr>
            <a:r>
              <a:t>03  5G・Beyond 5G/6G戦略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07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5G（現在〜2030年）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7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Sub-6/ミリ波による高速大容量通信の全国展開</a:t>
            </a:r>
          </a:p>
          <a:p>
            <a:pPr>
              <a:spcAft>
                <a:spcPts val="447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5G SA（スタンドアロン）の本格化</a:t>
            </a:r>
          </a:p>
          <a:p>
            <a:pPr>
              <a:spcAft>
                <a:spcPts val="447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ネットワークスライシングによる用途別最適化</a:t>
            </a:r>
          </a:p>
          <a:p>
            <a:pPr>
              <a:spcAft>
                <a:spcPts val="447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インフラシェアリング推進でコスト効率化</a:t>
            </a:r>
          </a:p>
          <a:p>
            <a:pPr>
              <a:spcAft>
                <a:spcPts val="447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中期1,000億円規模のコスト効率化を目標</a:t>
            </a:r>
          </a:p>
          <a:p>
            <a:pPr>
              <a:spcAft>
                <a:spcPts val="447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モバイルARPU向上施策の推進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07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Beyond 5G / 6G（2030年〜）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• 「KDDI Accelerate 5.0」ビジョン</a:t>
            </a:r>
          </a:p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• 7つの重点テクノロジー:</a:t>
            </a:r>
          </a:p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•   ネットワーク / セキュリティ / IoT</a:t>
            </a:r>
          </a:p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•   プラットフォーム / AI / XR / ロボティクス</a:t>
            </a:r>
          </a:p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• 超高速暗号アルゴリズム「Rocca」（100Gbps超）</a:t>
            </a:r>
          </a:p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• 点群圧縮技術（PCC）: データ量1/40に</a:t>
            </a:r>
          </a:p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• 光無線融合技術（IFoF）: アンテナ小型化・省電力化</a:t>
            </a:r>
          </a:p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• ユーザーセントリックアーキテクチャへの転換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03520"/>
            <a:ext cx="1106424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3200400" cy="10058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2024-2026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52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eiryo"/>
              </a:defRPr>
            </a:pPr>
            <a:r>
              <a:t>5G SA本格展開</a:t>
            </a:r>
            <a:br/>
            <a:r>
              <a:t>ARPU回復期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5486400"/>
            <a:ext cx="3200400" cy="100584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2026-2030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5852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eiryo"/>
              </a:defRPr>
            </a:pPr>
            <a:r>
              <a:t>5G Advanced</a:t>
            </a:r>
            <a:br/>
            <a:r>
              <a:t>非通信収益拡大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5486400"/>
            <a:ext cx="3200400" cy="100584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39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2030〜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39" y="5852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eiryo"/>
              </a:defRPr>
            </a:pPr>
            <a:r>
              <a:t>Beyond 5G/6G</a:t>
            </a:r>
            <a:br/>
            <a:r>
              <a:t>社会プラットフォーマー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eiryo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eiryo"/>
              </a:defRPr>
            </a:pPr>
            <a:r>
              <a:t>04  AI・DX事業の成長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Meiryo"/>
              </a:defRPr>
            </a:pPr>
            <a:r>
              <a:t>WAKONX（ワコンクロス）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AI時代のビジネスプラットフォーム</a:t>
            </a:r>
          </a:p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AI・データ基盤・ネットワーク運用をワンストップ提供</a:t>
            </a:r>
          </a:p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社会課題・業界課題の解決を加速</a:t>
            </a:r>
          </a:p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法人事業のID拡大と中小企業層アプローチ強化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2286000"/>
          </a:xfrm>
          <a:prstGeom prst="roundRect">
            <a:avLst/>
          </a:prstGeom>
          <a:solidFill>
            <a:srgbClr val="FE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600"/>
                </a:solidFill>
                <a:latin typeface="Meiryo"/>
              </a:defRPr>
            </a:pPr>
            <a:r>
              <a:t>AIインフラ・データセンター投資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NVIDIA GB200 NVL72システム導入（2026年1月〜）</a:t>
            </a:r>
          </a:p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ロンドンに6番目の施設（約600億円投資）</a:t>
            </a:r>
          </a:p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DC電力容量 1.6倍に拡大</a:t>
            </a:r>
          </a:p>
          <a:p>
            <a:pPr>
              <a:spcAft>
                <a:spcPts val="415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生成AIの社会実装を推進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593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ビジネスセグメント業績目標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338328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9999"/>
                </a:solidFill>
                <a:latin typeface="Meiryo"/>
              </a:defRPr>
            </a:pPr>
            <a:r>
              <a:t>売上高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eiryo"/>
              </a:defRPr>
            </a:pPr>
            <a:r>
              <a:t>1兆5,900億円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55A"/>
                </a:solidFill>
                <a:latin typeface="Meiryo"/>
              </a:defRPr>
            </a:pPr>
            <a:r>
              <a:t>前年比+13.6%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572000"/>
            <a:ext cx="338328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4617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9999"/>
                </a:solidFill>
                <a:latin typeface="Meiryo"/>
              </a:defRPr>
            </a:pPr>
            <a:r>
              <a:t>営業利益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eiryo"/>
              </a:defRPr>
            </a:pPr>
            <a:r>
              <a:t>2,720億円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5257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55A"/>
                </a:solidFill>
                <a:latin typeface="Meiryo"/>
              </a:defRPr>
            </a:pPr>
            <a:r>
              <a:t>前年比+16.7%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9" y="4572000"/>
            <a:ext cx="338328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9" y="4617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9999"/>
                </a:solidFill>
                <a:latin typeface="Meiryo"/>
              </a:defRPr>
            </a:pPr>
            <a:r>
              <a:t>重点領域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eiryo"/>
              </a:defRPr>
            </a:pPr>
            <a:r>
              <a:t>IoT・DC等グロース領域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5257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55A"/>
                </a:solidFill>
                <a:latin typeface="Meiryo"/>
              </a:defRPr>
            </a:pPr>
            <a:r>
              <a:t>二桁成長を牽引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Meiryo"/>
              </a:defRPr>
            </a:pPr>
            <a:r>
              <a:t>「DX銘柄2025」に選定 ── 「DX実現能力の高さでは、確実にトップランナーの1社」（DX銘柄選考委員）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eiryo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eiryo"/>
              </a:defRPr>
            </a:pPr>
            <a:r>
              <a:t>05  宇宙事業 ── au Starlink Direct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858000" cy="4846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Meiryo"/>
              </a:defRPr>
            </a:pPr>
            <a:r>
              <a:t>au Starlink Direct（2025年4月サービス開始）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12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国内キャリア初・アジア初の衛星⇔スマホ直接通信サービス</a:t>
            </a:r>
          </a:p>
          <a:p>
            <a:pPr>
              <a:spcAft>
                <a:spcPts val="312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「空が見えれば、どこでもつながる」── 圏外エリアを解消</a:t>
            </a:r>
          </a:p>
          <a:p>
            <a:pPr>
              <a:spcAft>
                <a:spcPts val="312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対応機種: Android/iPhone 50機種・約600万台</a:t>
            </a:r>
          </a:p>
          <a:p>
            <a:pPr>
              <a:spcAft>
                <a:spcPts val="312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開始1カ月で約20万人が利用（GW中は1日4万人）</a:t>
            </a:r>
          </a:p>
          <a:p>
            <a:pPr>
              <a:spcAft>
                <a:spcPts val="312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申込不要・当面無料で提供</a:t>
            </a:r>
          </a:p>
          <a:p>
            <a:pPr>
              <a:spcAft>
                <a:spcPts val="312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SMS/RCS/iMessage/緊急地震速報に対応</a:t>
            </a:r>
          </a:p>
          <a:p>
            <a:pPr>
              <a:spcAft>
                <a:spcPts val="312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2025年夏からデータ通信にも対応予定</a:t>
            </a:r>
          </a:p>
          <a:p>
            <a:pPr>
              <a:spcAft>
                <a:spcPts val="312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高度340kmの低軌道衛星（約600機）と直接通信</a:t>
            </a:r>
          </a:p>
          <a:p>
            <a:pPr>
              <a:spcAft>
                <a:spcPts val="312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60年の衛星通信ノウハウがSpaceXとの提携を実現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371600"/>
            <a:ext cx="3931920" cy="2286000"/>
          </a:xfrm>
          <a:prstGeom prst="round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463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600"/>
                </a:solidFill>
                <a:latin typeface="Meiryo"/>
              </a:defRPr>
            </a:pPr>
            <a:r>
              <a:t>月面5G構想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116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3"/>
              </a:spcAft>
              <a:defRPr sz="1200">
                <a:solidFill>
                  <a:srgbClr val="FFFFFF"/>
                </a:solidFill>
                <a:latin typeface="Meiryo"/>
              </a:defRPr>
            </a:pPr>
            <a:r>
              <a:t>▸ 月面機器間の5G通信</a:t>
            </a:r>
          </a:p>
          <a:p>
            <a:pPr>
              <a:spcAft>
                <a:spcPts val="383"/>
              </a:spcAft>
              <a:defRPr sz="1200">
                <a:solidFill>
                  <a:srgbClr val="FFFFFF"/>
                </a:solidFill>
                <a:latin typeface="Meiryo"/>
              </a:defRPr>
            </a:pPr>
            <a:r>
              <a:t>▸ 月面⇔衛星⇔地球の通信網</a:t>
            </a:r>
          </a:p>
          <a:p>
            <a:pPr>
              <a:spcAft>
                <a:spcPts val="383"/>
              </a:spcAft>
              <a:defRPr sz="1200">
                <a:solidFill>
                  <a:srgbClr val="FFFFFF"/>
                </a:solidFill>
                <a:latin typeface="Meiryo"/>
              </a:defRPr>
            </a:pPr>
            <a:r>
              <a:t>▸ JAXA・GITAIとの共同研究</a:t>
            </a:r>
          </a:p>
          <a:p>
            <a:pPr>
              <a:spcAft>
                <a:spcPts val="383"/>
              </a:spcAft>
              <a:defRPr sz="1200">
                <a:solidFill>
                  <a:srgbClr val="FFFFFF"/>
                </a:solidFill>
                <a:latin typeface="Meiryo"/>
              </a:defRPr>
            </a:pPr>
            <a:r>
              <a:t>▸ 2025年2月〜具体活動開始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931920"/>
            <a:ext cx="3931920" cy="2286000"/>
          </a:xfrm>
          <a:prstGeom prst="roundRect">
            <a:avLst/>
          </a:prstGeom>
          <a:solidFill>
            <a:srgbClr val="FE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023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600"/>
                </a:solidFill>
                <a:latin typeface="Meiryo"/>
              </a:defRPr>
            </a:pPr>
            <a:r>
              <a:t>法人向け展開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572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Starlink Businessによる</a:t>
            </a:r>
          </a:p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閉域ネットワーク実証成功</a:t>
            </a:r>
          </a:p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災害時のBCP対策需要</a:t>
            </a:r>
          </a:p>
          <a:p>
            <a:pPr>
              <a:spcAft>
                <a:spcPts val="383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僻地・海上での安定通信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eiryo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eiryo"/>
              </a:defRPr>
            </a:pPr>
            <a:r>
              <a:t>06  ローソン提携によるシナジー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Meiryo"/>
              </a:defRPr>
            </a:pPr>
            <a:r>
              <a:t>三菱商事・KDDI・ローソン 資本業務提携（2024年2月締結 → 8月共同経営開始）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eiryo"/>
              </a:defRPr>
            </a:pPr>
            <a:r>
              <a:t>テーマ: 「リアル × デジタル × グリーン」の融合 ── 三菱商事・KDDIがローソン株を50%ずつ保有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47472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70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未来のコンビニ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AI活用スマホレジ・デジタルサイネージ</a:t>
            </a:r>
          </a:p>
          <a:p>
            <a:pPr>
              <a:spcAft>
                <a:spcPts val="288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フライド商品自動調理器・飲料自動補充ロボ</a:t>
            </a:r>
          </a:p>
          <a:p>
            <a:pPr>
              <a:spcAft>
                <a:spcPts val="288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アバターによる遠隔接客</a:t>
            </a:r>
          </a:p>
          <a:p>
            <a:pPr>
              <a:spcAft>
                <a:spcPts val="288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高輪ゲートウェイに実験店舗（2025年6月）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2743200"/>
            <a:ext cx="3474720" cy="457200"/>
          </a:xfrm>
          <a:prstGeom prst="rect">
            <a:avLst/>
          </a:prstGeom>
          <a:solidFill>
            <a:srgbClr val="00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39" y="2770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データ基盤統合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32918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KDDIとローソンの会員情報連携</a:t>
            </a:r>
          </a:p>
          <a:p>
            <a:pPr>
              <a:spcAft>
                <a:spcPts val="288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国内最大級の顧客データ基盤構築</a:t>
            </a:r>
          </a:p>
          <a:p>
            <a:pPr>
              <a:spcAft>
                <a:spcPts val="288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パーソナライズされた顧客体験</a:t>
            </a:r>
          </a:p>
          <a:p>
            <a:pPr>
              <a:spcAft>
                <a:spcPts val="288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Ponta会員基盤の活用拡大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2743200"/>
            <a:ext cx="3474720" cy="4572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770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地域課題解決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2918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防災・災害対処協定の締結</a:t>
            </a:r>
          </a:p>
          <a:p>
            <a:pPr>
              <a:spcAft>
                <a:spcPts val="288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Starlink通信環境の店舗活用</a:t>
            </a:r>
          </a:p>
          <a:p>
            <a:pPr>
              <a:spcAft>
                <a:spcPts val="288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ドローン周辺パトロール</a:t>
            </a:r>
          </a:p>
          <a:p>
            <a:pPr>
              <a:spcAft>
                <a:spcPts val="288"/>
              </a:spcAft>
              <a:defRPr sz="1200">
                <a:solidFill>
                  <a:srgbClr val="333333"/>
                </a:solidFill>
                <a:latin typeface="Meiryo"/>
              </a:defRPr>
            </a:pPr>
            <a:r>
              <a:t>▸ オンデマンド乗合交通連携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03520"/>
            <a:ext cx="11064240" cy="45720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C31"/>
                </a:solidFill>
                <a:latin typeface="Meiryo"/>
              </a:defRPr>
            </a:pPr>
            <a:r>
              <a:t>課題: 「キャリア色」を出しすぎると他社契約者の離反リスク / セブンとの日販差（約12万円）をどう縮めるか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A55A"/>
                </a:solidFill>
                <a:latin typeface="Meiryo"/>
              </a:defRPr>
            </a:pPr>
            <a:r>
              <a:t>展望: 株価は買収後20%下落→回復。「資本コスト分のリターンは確保できる」との評価に転換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eiryo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eiryo"/>
              </a:defRPr>
            </a:pPr>
            <a:r>
              <a:t>07-08  金融・エネルギー事業 / リスク要因と課題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solidFill>
            <a:srgbClr val="00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07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金融・エネルギー事業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auじぶん銀行・auカブコム証券・au PAY</a:t>
            </a:r>
          </a:p>
          <a:p>
            <a:pPr>
              <a:spcAft>
                <a:spcPts val="260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決済・金融取扱高: 21.4兆円（前年+3.4兆円）</a:t>
            </a:r>
          </a:p>
          <a:p>
            <a:pPr>
              <a:spcAft>
                <a:spcPts val="260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通信×金融の好循環モデル確立</a:t>
            </a:r>
          </a:p>
          <a:p>
            <a:pPr>
              <a:spcAft>
                <a:spcPts val="260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金融事業で20%成長を目指す方針</a:t>
            </a:r>
          </a:p>
          <a:p>
            <a:pPr>
              <a:spcAft>
                <a:spcPts val="260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金利環境変化への対応（預貸率重視へ転換）</a:t>
            </a:r>
          </a:p>
          <a:p>
            <a:pPr>
              <a:spcAft>
                <a:spcPts val="260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</a:t>
            </a:r>
          </a:p>
          <a:p>
            <a:pPr>
              <a:spcAft>
                <a:spcPts val="260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auでんき・再生可能エネルギー事業</a:t>
            </a:r>
          </a:p>
          <a:p>
            <a:pPr>
              <a:spcAft>
                <a:spcPts val="260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サステナビリティファイナンスの推進</a:t>
            </a:r>
          </a:p>
          <a:p>
            <a:pPr>
              <a:spcAft>
                <a:spcPts val="260"/>
              </a:spcAft>
              <a:defRPr sz="1300">
                <a:solidFill>
                  <a:srgbClr val="333333"/>
                </a:solidFill>
                <a:latin typeface="Meiryo"/>
              </a:defRPr>
            </a:pPr>
            <a:r>
              <a:t>▸ 下期注力領域で DX・金融・エネルギー・ローソン合計 +約300億円目標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solidFill>
            <a:srgbClr val="E03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07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リスク要因と課題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C31"/>
                </a:solidFill>
                <a:latin typeface="Meiryo"/>
              </a:defRPr>
            </a:pPr>
            <a:r>
              <a:t>競争環境の激化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- 楽天モバイルの衛星直接通信（2026年開始予定）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96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- ドコモのHAPS（空飛ぶ基地局、2026年商用化）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523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- 格安プラン競争（povo vs ahamo vs LINEMO）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998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C31"/>
                </a:solidFill>
                <a:latin typeface="Meiryo"/>
              </a:defRPr>
            </a:pPr>
            <a:r>
              <a:t>規制・政策リスク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4198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- 通信料値下げ圧力の継続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675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- 電気通信事業法改正の影響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C31"/>
                </a:solidFill>
                <a:latin typeface="Meiryo"/>
              </a:defRPr>
            </a:pPr>
            <a:r>
              <a:t>子会社不適切取引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- ビッグローブ・ジー・プラン広告事業で架空取引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599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- 特別調査委員会が調査中（2026年3月末報告予定）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9469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C31"/>
                </a:solidFill>
                <a:latin typeface="Meiryo"/>
              </a:defRPr>
            </a:pPr>
            <a:r>
              <a:t>金融事業環境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2669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- 金利上昇局面での預金調達競争激化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eiryo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eiryo"/>
              </a:defRPr>
            </a:pPr>
            <a:r>
              <a:t>09  まとめ ── KDDIの将来展望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Meiryo"/>
              </a:defRPr>
            </a:pPr>
            <a:r>
              <a:t>KDDIの5つの成長ドライバー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011680" cy="18288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5G/6G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eiryo"/>
              </a:defRPr>
            </a:pPr>
            <a:r>
              <a:t>次世代通信</a:t>
            </a:r>
            <a:br/>
            <a:r>
              <a:t>インフラ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011680"/>
            <a:ext cx="2011680" cy="182880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AI・DX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06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eiryo"/>
              </a:defRPr>
            </a:pPr>
            <a:r>
              <a:t>WAKONX基盤</a:t>
            </a:r>
            <a:br/>
            <a:r>
              <a:t>法人事業拡大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011680"/>
            <a:ext cx="2011680" cy="182880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宇宙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06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eiryo"/>
              </a:defRPr>
            </a:pPr>
            <a:r>
              <a:t>Starlink直接通信</a:t>
            </a:r>
            <a:br/>
            <a:r>
              <a:t>月面5G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011680"/>
            <a:ext cx="2011680" cy="1828800"/>
          </a:xfrm>
          <a:prstGeom prst="roundRect">
            <a:avLst/>
          </a:prstGeom>
          <a:solidFill>
            <a:srgbClr val="00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ローソン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606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eiryo"/>
              </a:defRPr>
            </a:pPr>
            <a:r>
              <a:t>リアル×デジタル</a:t>
            </a:r>
            <a:br/>
            <a:r>
              <a:t>13,000+店舗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2011680"/>
            <a:ext cx="2011680" cy="1828800"/>
          </a:xfrm>
          <a:prstGeom prst="roundRect">
            <a:avLst/>
          </a:prstGeom>
          <a:solidFill>
            <a:srgbClr val="C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金融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606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eiryo"/>
              </a:defRPr>
            </a:pPr>
            <a:r>
              <a:t>21兆円取扱高</a:t>
            </a:r>
            <a:br/>
            <a:r>
              <a:t>通信×金融融合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1106424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◆ 通信事業の安定収益基盤の上に、AI・DX・金融・エネルギーの非通信事業を積み上げる多角化戦略</a:t>
            </a:r>
          </a:p>
          <a:p>
            <a:pPr>
              <a:spcAft>
                <a:spcPts val="56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◆ au Starlink Directは国内初の衛星直接通信として先行者利益を確保</a:t>
            </a:r>
          </a:p>
          <a:p>
            <a:pPr>
              <a:spcAft>
                <a:spcPts val="56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◆ ローソン提携は短期的リスクはあるが、リアルテック融合の中長期的ポテンシャルは大きい</a:t>
            </a:r>
          </a:p>
          <a:p>
            <a:pPr>
              <a:spcAft>
                <a:spcPts val="56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◆ 営業利益1兆円超の安定基盤 + 持続的増配（配当性向40%超）で株主還元も充実</a:t>
            </a:r>
          </a:p>
          <a:p>
            <a:pPr>
              <a:spcAft>
                <a:spcPts val="56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◆ Beyond 5G/6G時代の「社会を支えるプラットフォーマー」への変革が最大のテーマ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6126480"/>
            <a:ext cx="7589520" cy="5486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6153912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KDDI VISION 2030: 「つなぐチカラ」を進化させ、誰もが思いを実現できる社会をつくる。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eiryo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